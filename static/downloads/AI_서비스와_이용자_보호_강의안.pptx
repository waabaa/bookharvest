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200" b="1"/>
            </a:pPr>
            <a:r>
              <a:t>AI 서비스와 이용자 보호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t>저자: 유지연 상명대학교 휴먼지능정보공학전공 교수다. 고려대학교에서 정보경영공학 박사학위를 취득했으며, 정보통신정책연구원(KISDI)에서 부연구위원으로 활동했다. 디지털 기술과 사회의 접점에서 깊은 통찰력을 바탕으로 기술의 복합적 위험 구조를 분석하고 공학적 해법을 정책으로 연결하는 데 기여해 온 공학자다. 디지털 사회의 전략적 대응과 위험 관리에 관해 25년간 연구해 왔으며, 최근에는 인공지능의 신뢰성과 국가적 차원의 안전성 확보에 주목하고 있다. 연구 경력 초기에는 정부출연연구기관에서 초연결 사회의 디지털 하이브리드 위험 패러다임에 관</a:t>
            </a:r>
          </a:p>
          <a:p>
            <a:pPr algn="ctr">
              <a:defRPr sz="1800"/>
            </a:pPr>
            <a:r>
              <a:t>대상: 정보기술 및 사회과학 전공자, AI 서비스 개발자, 정책 입안자</a:t>
            </a:r>
          </a:p>
          <a:p>
            <a:pPr algn="ctr">
              <a:defRPr sz="1800"/>
            </a:pPr>
            <a:r>
              <a:t>총 시간: 360분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강의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시대에 이용자 보호의 중요성을 이해하고, 기술적 및 제도적 대응 방안을 학습합니다. 실무에 적용 가능한 구체적 지침을 통해 인간 중심의 지속 가능한 디지털 사회를 설계하고자 합니다.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AI 시대의 이용자 보호 필요성을 이해한다.</a:t>
            </a:r>
          </a:p>
          <a:p>
            <a:pPr lvl="1">
              <a:defRPr sz="1400"/>
            </a:pPr>
            <a:r>
              <a:t>• AI 서비스의 투명성과 설명 가능성을 확보하는 방법을 학습한다.</a:t>
            </a:r>
          </a:p>
          <a:p>
            <a:pPr lvl="1">
              <a:defRPr sz="1400"/>
            </a:pPr>
            <a:r>
              <a:t>• 프라이버시와 공정성 보호를 위한 실무적 지침을 익힌다.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1강: AI 시대의 이용자 보호 필요성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AI가 이용자 권리에 미치는 영향을 이해한다.</a:t>
            </a:r>
          </a:p>
          <a:p>
            <a:pPr lvl="1">
              <a:defRPr sz="1400"/>
            </a:pPr>
            <a:r>
              <a:t>• AI 이용자 보호의 새로운 기준을 학습한다.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AI의 사회적 영향 (30분)</a:t>
            </a:r>
          </a:p>
          <a:p>
            <a:pPr lvl="2">
              <a:defRPr sz="1200"/>
            </a:pPr>
            <a:r>
              <a:t>  - AI의 의료, 교육, 금융 등 다양한 분야에서의 영향력과 이용자 권리에 미치는 영향 분석</a:t>
            </a:r>
          </a:p>
          <a:p>
            <a:pPr lvl="1">
              <a:defRPr sz="1400"/>
            </a:pPr>
            <a:r>
              <a:t>• 이용자 보호의 필요성 (30분)</a:t>
            </a:r>
          </a:p>
          <a:p>
            <a:pPr lvl="2">
              <a:defRPr sz="1200"/>
            </a:pPr>
            <a:r>
              <a:t>  - AI 확산에 따른 자율성과 권리 위협 사례 및 보호 필요성 논의</a:t>
            </a:r>
          </a:p>
          <a:p>
            <a:pPr lvl="1">
              <a:defRPr sz="1400"/>
            </a:pPr>
            <a:r>
              <a:t>• 새로운 이용자 보호 기준 (30분)</a:t>
            </a:r>
          </a:p>
          <a:p>
            <a:pPr lvl="2">
              <a:defRPr sz="1200"/>
            </a:pPr>
            <a:r>
              <a:t>  - 알고리즘의 불투명성과 편향 문제 해결을 위한 새로운 기준 제시</a:t>
            </a:r>
          </a:p>
          <a:p/>
          <a:p>
            <a:pPr>
              <a:defRPr sz="1600" b="1"/>
            </a:pPr>
            <a:r>
              <a:t>핵심 개념:</a:t>
            </a:r>
          </a:p>
          <a:p>
            <a:pPr lvl="1">
              <a:defRPr sz="1400"/>
            </a:pPr>
            <a:r>
              <a:t>이용자 권리 | 편향과 불투명성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2강: AI 서비스의 투명성과 설명 책임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AI 블랙박스 문제를 이해한다.</a:t>
            </a:r>
          </a:p>
          <a:p>
            <a:pPr lvl="1">
              <a:defRPr sz="1400"/>
            </a:pPr>
            <a:r>
              <a:t>• 설명 가능한 AI를 구현하는 방법을 학습한다.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블랙박스 문제 이해 (30분)</a:t>
            </a:r>
          </a:p>
          <a:p>
            <a:pPr lvl="2">
              <a:defRPr sz="1200"/>
            </a:pPr>
            <a:r>
              <a:t>  - AI 의사 결정의 불투명성과 그로 인한 사회적 문제 분석</a:t>
            </a:r>
          </a:p>
          <a:p>
            <a:pPr lvl="1">
              <a:defRPr sz="1400"/>
            </a:pPr>
            <a:r>
              <a:t>• 설명 가능한 AI (30분)</a:t>
            </a:r>
          </a:p>
          <a:p>
            <a:pPr lvl="2">
              <a:defRPr sz="1200"/>
            </a:pPr>
            <a:r>
              <a:t>  - 설명 가능성 향상을 위한 기술적 접근법과 사례 연구</a:t>
            </a:r>
          </a:p>
          <a:p>
            <a:pPr lvl="1">
              <a:defRPr sz="1400"/>
            </a:pPr>
            <a:r>
              <a:t>• 책임과 투명성 확보 (30분)</a:t>
            </a:r>
          </a:p>
          <a:p>
            <a:pPr lvl="2">
              <a:defRPr sz="1200"/>
            </a:pPr>
            <a:r>
              <a:t>  - AI의 투명성을 높이기 위한 제도적 대응 방안</a:t>
            </a:r>
          </a:p>
          <a:p/>
          <a:p>
            <a:pPr>
              <a:defRPr sz="1600" b="1"/>
            </a:pPr>
            <a:r>
              <a:t>핵심 개념:</a:t>
            </a:r>
          </a:p>
          <a:p>
            <a:pPr lvl="1">
              <a:defRPr sz="1400"/>
            </a:pPr>
            <a:r>
              <a:t>블랙박스 | 설명 가능한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3강: AI의 개인정보 보호와 공정성 보장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프라이버시 보호의 기술적 방법을 이해한다.</a:t>
            </a:r>
          </a:p>
          <a:p>
            <a:pPr lvl="1">
              <a:defRPr sz="1400"/>
            </a:pPr>
            <a:r>
              <a:t>• AI 시스템의 공정성 보장을 위한 접근법을 학습한다.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개인정보 보호 기술 (30분)</a:t>
            </a:r>
          </a:p>
          <a:p>
            <a:pPr lvl="2">
              <a:defRPr sz="1200"/>
            </a:pPr>
            <a:r>
              <a:t>  - 연합학습 및 데이터 익명화 기술의 이해와 적용</a:t>
            </a:r>
          </a:p>
          <a:p>
            <a:pPr lvl="1">
              <a:defRPr sz="1400"/>
            </a:pPr>
            <a:r>
              <a:t>• 공정성 보장 방법 (30분)</a:t>
            </a:r>
          </a:p>
          <a:p>
            <a:pPr lvl="2">
              <a:defRPr sz="1200"/>
            </a:pPr>
            <a:r>
              <a:t>  - AI 시스템에서 차별을 방지하기 위한 기술적 및 제도적 접근법</a:t>
            </a:r>
          </a:p>
          <a:p>
            <a:pPr lvl="1">
              <a:defRPr sz="1400"/>
            </a:pPr>
            <a:r>
              <a:t>• 실무 적용 사례 (30분)</a:t>
            </a:r>
          </a:p>
          <a:p>
            <a:pPr lvl="2">
              <a:defRPr sz="1200"/>
            </a:pPr>
            <a:r>
              <a:t>  - 프라이버시와 공정성 보호를 위한 실제 사례 연구</a:t>
            </a:r>
          </a:p>
          <a:p/>
          <a:p>
            <a:pPr>
              <a:defRPr sz="1600" b="1"/>
            </a:pPr>
            <a:r>
              <a:t>핵심 개념:</a:t>
            </a:r>
          </a:p>
          <a:p>
            <a:pPr lvl="1">
              <a:defRPr sz="1400"/>
            </a:pPr>
            <a:r>
              <a:t>프라이버시 보호 | 공정성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4강: AI 리터러시와 이용자 보호 거버넌스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i="1"/>
            </a:pPr>
            <a:r>
              <a:t>수업 시간: 90분</a:t>
            </a:r>
          </a:p>
          <a:p/>
          <a:p>
            <a:pPr>
              <a:defRPr sz="1600" b="1"/>
            </a:pPr>
            <a:r>
              <a:t>학습 목표:</a:t>
            </a:r>
          </a:p>
          <a:p>
            <a:pPr lvl="1">
              <a:defRPr sz="1400"/>
            </a:pPr>
            <a:r>
              <a:t>• AI 리터러시의 필요성을 이해한다.</a:t>
            </a:r>
          </a:p>
          <a:p>
            <a:pPr lvl="1">
              <a:defRPr sz="1400"/>
            </a:pPr>
            <a:r>
              <a:t>• 이용자 보호를 위한 거버넌스 모델을 학습한다.</a:t>
            </a:r>
          </a:p>
          <a:p/>
          <a:p>
            <a:pPr>
              <a:defRPr sz="1600" b="1"/>
            </a:pPr>
            <a:r>
              <a:t>강의 구성:</a:t>
            </a:r>
          </a:p>
          <a:p>
            <a:pPr lvl="1">
              <a:defRPr sz="1400"/>
            </a:pPr>
            <a:r>
              <a:t>• AI 리터러시 교육 (30분)</a:t>
            </a:r>
          </a:p>
          <a:p>
            <a:pPr lvl="2">
              <a:defRPr sz="1200"/>
            </a:pPr>
            <a:r>
              <a:t>  - 초등학교부터 대학교까지의 AI 리터러시 교육 모델 탐색</a:t>
            </a:r>
          </a:p>
          <a:p>
            <a:pPr lvl="1">
              <a:defRPr sz="1400"/>
            </a:pPr>
            <a:r>
              <a:t>• 보호 거버넌스 (30분)</a:t>
            </a:r>
          </a:p>
          <a:p>
            <a:pPr lvl="2">
              <a:defRPr sz="1200"/>
            </a:pPr>
            <a:r>
              <a:t>  - 이용자 보호를 위한 정책 및 거버넌스 모델 이해</a:t>
            </a:r>
          </a:p>
          <a:p>
            <a:pPr lvl="1">
              <a:defRPr sz="1400"/>
            </a:pPr>
            <a:r>
              <a:t>• 국제적인 모범 사례 (30분)</a:t>
            </a:r>
          </a:p>
          <a:p>
            <a:pPr lvl="2">
              <a:defRPr sz="1200"/>
            </a:pPr>
            <a:r>
              <a:t>  - 유럽연합의 데이터법 및 미국 FTC의 프라이버시 정책 분석</a:t>
            </a:r>
          </a:p>
          <a:p/>
          <a:p>
            <a:pPr>
              <a:defRPr sz="1600" b="1"/>
            </a:pPr>
            <a:r>
              <a:t>핵심 개념:</a:t>
            </a:r>
          </a:p>
          <a:p>
            <a:pPr lvl="1">
              <a:defRPr sz="1400"/>
            </a:pPr>
            <a:r>
              <a:t>AI 리터러시 | 보호 거버넌스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평가 방법 및 학습 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평가 방법:</a:t>
            </a:r>
          </a:p>
          <a:p>
            <a:pPr lvl="1">
              <a:defRPr sz="1400"/>
            </a:pPr>
            <a:r>
              <a:t>• 실습 보고서 제출</a:t>
            </a:r>
          </a:p>
          <a:p>
            <a:pPr lvl="1">
              <a:defRPr sz="1400"/>
            </a:pPr>
            <a:r>
              <a:t>• 토론 참여도 평가</a:t>
            </a:r>
          </a:p>
          <a:p>
            <a:pPr>
              <a:defRPr sz="1200" i="1"/>
            </a:pPr>
            <a:r>
              <a:t>평가 기준: 실습 보고서는 기술적 정확성과 창의성, 토론 참여도는 논리성과 기여도를 기준으로 평가</a:t>
            </a:r>
          </a:p>
          <a:p/>
          <a:p>
            <a:pPr>
              <a:defRPr sz="1800" b="1"/>
            </a:pPr>
            <a:r>
              <a:t>학습 자료:</a:t>
            </a:r>
          </a:p>
          <a:p>
            <a:pPr>
              <a:defRPr sz="1600" b="1"/>
            </a:pPr>
            <a:r>
              <a:t>필수 자료:</a:t>
            </a:r>
          </a:p>
          <a:p>
            <a:pPr lvl="1">
              <a:defRPr sz="1400"/>
            </a:pPr>
            <a:r>
              <a:t>• AI 서비스와 이용자 보호 (교재)</a:t>
            </a:r>
          </a:p>
          <a:p>
            <a:pPr lvl="1">
              <a:defRPr sz="1400"/>
            </a:pPr>
            <a:r>
              <a:t>• 강의 슬라이드</a:t>
            </a:r>
          </a:p>
          <a:p>
            <a:pPr>
              <a:defRPr sz="1600" b="1"/>
            </a:pPr>
            <a:r>
              <a:t>추천 자료:</a:t>
            </a:r>
          </a:p>
          <a:p>
            <a:pPr lvl="1">
              <a:defRPr sz="1400"/>
            </a:pPr>
            <a:r>
              <a:t>• Holistic AI, 2023 데이터법 관련 문서</a:t>
            </a:r>
          </a:p>
          <a:p>
            <a:pPr lvl="1">
              <a:defRPr sz="1400"/>
            </a:pPr>
            <a:r>
              <a:t>• Kroll, 2018, AI 블랙박스 문제 연구 논문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